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Market Adoption Index (Millions of Users)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Design Tools</c:v>
                </c:pt>
              </c:strCache>
            </c:strRef>
          </c:tx>
          <c:spPr>
            <a:solidFill>
              <a:srgbClr val="6B46C1"/>
            </a:solidFill>
            <a:ln w="50800" cap="flat">
              <a:solidFill>
                <a:srgbClr val="6B46C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46C1"/>
              </a:solidFill>
              <a:ln w="9525" cap="flat">
                <a:solidFill>
                  <a:srgbClr val="6B46C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28</c:v>
                </c:pt>
                <c:pt idx="2">
                  <c:v>52</c:v>
                </c:pt>
                <c:pt idx="3">
                  <c:v>89</c:v>
                </c:pt>
                <c:pt idx="4">
                  <c:v>142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VR/AR Platforms</c:v>
                </c:pt>
              </c:strCache>
            </c:strRef>
          </c:tx>
          <c:spPr>
            <a:solidFill>
              <a:srgbClr val="F97316"/>
            </a:solidFill>
            <a:ln w="508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18</c:v>
                </c:pt>
                <c:pt idx="2">
                  <c:v>35</c:v>
                </c:pt>
                <c:pt idx="3">
                  <c:v>67</c:v>
                </c:pt>
                <c:pt idx="4">
                  <c:v>108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Collaboration Tools</c:v>
                </c:pt>
              </c:strCache>
            </c:strRef>
          </c:tx>
          <c:spPr>
            <a:solidFill>
              <a:srgbClr val="10B981"/>
            </a:solidFill>
            <a:ln w="508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</c:v>
                </c:pt>
                <c:pt idx="1">
                  <c:v>34</c:v>
                </c:pt>
                <c:pt idx="2">
                  <c:v>48</c:v>
                </c:pt>
                <c:pt idx="3">
                  <c:v>71</c:v>
                </c:pt>
                <c:pt idx="4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Active Users (M)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radient-bg-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04099" y="253901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51600" y="3155199"/>
            <a:ext cx="1436701" cy="14367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34901" y="507950"/>
            <a:ext cx="8031682" cy="178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40"/>
              </a:lnSpc>
              <a:spcAft>
                <a:spcPts val="1500"/>
              </a:spcAft>
              <a:buNone/>
            </a:pPr>
            <a:r>
              <a:rPr lang="en-US" sz="6400" dirty="0">
                <a:solidFill>
                  <a:srgbClr val="F8FA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DESIGN</a:t>
            </a:r>
            <a:endParaRPr lang="en-US" sz="6400" dirty="0"/>
          </a:p>
          <a:p>
            <a:pPr algn="l" indent="0" marL="0">
              <a:lnSpc>
                <a:spcPts val="7040"/>
              </a:lnSpc>
              <a:spcAft>
                <a:spcPts val="1500"/>
              </a:spcAft>
              <a:buNone/>
            </a:pPr>
            <a:r>
              <a:rPr lang="en-US" sz="6400" dirty="0">
                <a:solidFill>
                  <a:srgbClr val="F8FA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INNOVATION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34901" y="2486471"/>
            <a:ext cx="80316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Creative Boundaries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34901" y="3143696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2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2026_TRENDS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98450" y="482501"/>
            <a:ext cx="3083001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spcAft>
                <a:spcPts val="2000"/>
              </a:spcAft>
              <a:buNone/>
            </a:pPr>
            <a:r>
              <a:rPr lang="en-US" sz="3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8450" y="1894582"/>
            <a:ext cx="3022550" cy="1266676"/>
          </a:xfrm>
          <a:prstGeom prst="roundRect">
            <a:avLst>
              <a:gd name="adj" fmla="val 12031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01601" y="2097732"/>
            <a:ext cx="26685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1601" y="2758083"/>
            <a:ext cx="2668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OVER YEAR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450" y="3364409"/>
            <a:ext cx="3022550" cy="12954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</a:t>
            </a:r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tools surge</a:t>
            </a:r>
            <a:endParaRPr lang="en-US" sz="1500" dirty="0"/>
          </a:p>
          <a:p>
            <a:pPr algn="l" marL="127000" indent="-1270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collaboration platforms</a:t>
            </a:r>
            <a:endParaRPr lang="en-US" sz="1500" dirty="0"/>
          </a:p>
          <a:p>
            <a:pPr algn="l" marL="127000" indent="-1270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</a:t>
            </a:r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3D experiences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02001" y="806351"/>
          <a:ext cx="4534049" cy="3555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590675"/>
            <a:ext cx="2486561" cy="2790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0" dirty="0">
                <a:solidFill>
                  <a:srgbClr val="F8FAFC">
                    <a:alpha val="1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3556397" y="381819"/>
            <a:ext cx="4952702" cy="4379863"/>
          </a:xfrm>
          <a:prstGeom prst="roundRect">
            <a:avLst>
              <a:gd name="adj" fmla="val 5799"/>
            </a:avLst>
          </a:prstGeom>
          <a:solidFill>
            <a:srgbClr val="F8FAFC">
              <a:alpha val="95000"/>
            </a:srgbClr>
          </a:solidFill>
          <a:ln/>
          <a:effectLst>
            <a:outerShdw sx="100000" sy="100000" kx="0" ky="0" algn="bl" rotWithShape="0" blurRad="285750" dist="107763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798" y="826219"/>
            <a:ext cx="4145179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</a:t>
            </a:r>
            <a:pPr algn="l" indent="0" marL="0">
              <a:lnSpc>
                <a:spcPts val="5760"/>
              </a:lnSpc>
              <a:spcAft>
                <a:spcPts val="2000"/>
              </a:spcAft>
              <a:buNone/>
            </a:pPr>
            <a:r>
              <a:rPr lang="en-US" sz="3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000798" y="2360191"/>
            <a:ext cx="4145179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reality and augmented reality are reshaping how users interact with digital content, creating unprecedented engagement opportunities.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28452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71326"/>
            <a:ext cx="4490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Metrics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505700" y="571351"/>
            <a:ext cx="10881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Q4_2025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1500" y="1707803"/>
            <a:ext cx="816102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performance analysis across key digital platforms showing growth trends and user engagement patterns.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377440"/>
          <a:ext cx="8001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  <a:gridCol w="16002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Platform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Users (M)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Growth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Engagement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Rating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Figma Pro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4.2M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+89%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4.8/5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Adobe XD Cloud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3.8M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+67%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4.6/5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Canva Teams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7.5M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+124%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4.7/5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Webflow Studio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2.1M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+156%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4.9/5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Blender 3D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5.3M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</a:rPr>
                        <a:t>+203%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4.8/5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50" y="38100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6B4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0" y="2984599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5050" y="1905000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556022"/>
            <a:ext cx="77724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600" dirty="0">
                <a:solidFill>
                  <a:srgbClr val="F8FA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Future is Now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85800" y="1613297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Embrace innovation. Create fearlessly. Design tomorrow.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2635597"/>
            <a:ext cx="2328416" cy="1952030"/>
          </a:xfrm>
          <a:prstGeom prst="roundRect">
            <a:avLst>
              <a:gd name="adj" fmla="val 7807"/>
            </a:avLst>
          </a:prstGeom>
          <a:solidFill>
            <a:srgbClr val="6B46C1">
              <a:alpha val="10000"/>
            </a:srgbClr>
          </a:solidFill>
          <a:ln w="47625">
            <a:solidFill>
              <a:srgbClr val="6B46C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27075" y="3000673"/>
            <a:ext cx="16302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7075" y="3480048"/>
            <a:ext cx="1630231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emerging tools and technologies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7866" y="2635597"/>
            <a:ext cx="2328416" cy="1952030"/>
          </a:xfrm>
          <a:prstGeom prst="roundRect">
            <a:avLst>
              <a:gd name="adj" fmla="val 7807"/>
            </a:avLst>
          </a:prstGeom>
          <a:solidFill>
            <a:srgbClr val="3B82F6">
              <a:alpha val="10000"/>
            </a:srgbClr>
          </a:solidFill>
          <a:ln w="476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72942" y="3000673"/>
            <a:ext cx="16302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72942" y="3480048"/>
            <a:ext cx="1630231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immersive digital experiences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733" y="2635597"/>
            <a:ext cx="2328416" cy="1952030"/>
          </a:xfrm>
          <a:prstGeom prst="roundRect">
            <a:avLst>
              <a:gd name="adj" fmla="val 7807"/>
            </a:avLst>
          </a:prstGeom>
          <a:solidFill>
            <a:srgbClr val="10B981">
              <a:alpha val="10000"/>
            </a:srgbClr>
          </a:solidFill>
          <a:ln w="476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18808" y="3000673"/>
            <a:ext cx="16302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18808" y="3480048"/>
            <a:ext cx="1630231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boundaries with bold ideas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Innovation 2026 - Creative Showcase</dc:title>
  <dc:subject>PptxGenJS Presentation</dc:subject>
  <dc:creator>Design Innovation Lab</dc:creator>
  <cp:lastModifiedBy>Design Innovation Lab</cp:lastModifiedBy>
  <cp:revision>1</cp:revision>
  <dcterms:created xsi:type="dcterms:W3CDTF">2026-01-03T04:43:19Z</dcterms:created>
  <dcterms:modified xsi:type="dcterms:W3CDTF">2026-01-03T04:43:19Z</dcterms:modified>
</cp:coreProperties>
</file>