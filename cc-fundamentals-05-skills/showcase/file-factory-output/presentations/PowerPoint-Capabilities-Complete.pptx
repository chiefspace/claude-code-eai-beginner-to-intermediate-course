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Quarterly Revenue (Bar Chart)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2025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78</c:v>
                </c:pt>
                <c:pt idx="2">
                  <c:v>92</c:v>
                </c:pt>
                <c:pt idx="3">
                  <c:v>105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Quarter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3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Platform Distribution (Pie Chart)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006E"/>
              </a:solidFill>
              <a:effectLst/>
            </c:spPr>
          </c:dPt>
          <c:dPt>
            <c:idx val="1"/>
            <c:bubble3D val="0"/>
            <c:spPr>
              <a:solidFill>
                <a:srgbClr val="00D9FF"/>
              </a:solidFill>
              <a:effectLst/>
            </c:spPr>
          </c:dPt>
          <c:dPt>
            <c:idx val="2"/>
            <c:bubble3D val="0"/>
            <c:spPr>
              <a:solidFill>
                <a:srgbClr val="8338EC"/>
              </a:solidFill>
              <a:effectLst/>
            </c:spPr>
          </c:dPt>
          <c:dPt>
            <c:idx val="3"/>
            <c:bubble3D val="0"/>
            <c:spPr>
              <a:solidFill>
                <a:srgbClr val="FB560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Desktop</c:v>
                </c:pt>
                <c:pt idx="1">
                  <c:v>Mobile</c:v>
                </c:pt>
                <c:pt idx="2">
                  <c:v>Tablet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38</c:v>
                </c:pt>
                <c:pt idx="2">
                  <c:v>15</c:v>
                </c:pt>
                <c:pt idx="3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Arial"/>
              </a:rPr>
              <a:t>Multi-Series Line Chart - Product Performance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A</c:v>
                </c:pt>
              </c:strCache>
            </c:strRef>
          </c:tx>
          <c:spPr>
            <a:solidFill>
              <a:srgbClr val="FF006E"/>
            </a:solidFill>
            <a:ln w="38100" cap="flat">
              <a:solidFill>
                <a:srgbClr val="FF00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006E"/>
              </a:solidFill>
              <a:ln w="9525" cap="flat">
                <a:solidFill>
                  <a:srgbClr val="FF00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</c:v>
                </c:pt>
                <c:pt idx="1">
                  <c:v>31</c:v>
                </c:pt>
                <c:pt idx="2">
                  <c:v>28</c:v>
                </c:pt>
                <c:pt idx="3">
                  <c:v>42</c:v>
                </c:pt>
                <c:pt idx="4">
                  <c:v>38</c:v>
                </c:pt>
                <c:pt idx="5">
                  <c:v>55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 B</c:v>
                </c:pt>
              </c:strCache>
            </c:strRef>
          </c:tx>
          <c:spPr>
            <a:solidFill>
              <a:srgbClr val="00D9FF"/>
            </a:solidFill>
            <a:ln w="38100" cap="flat">
              <a:solidFill>
                <a:srgbClr val="00D9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9FF"/>
              </a:solidFill>
              <a:ln w="9525" cap="flat">
                <a:solidFill>
                  <a:srgbClr val="00D9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</c:v>
                </c:pt>
                <c:pt idx="1">
                  <c:v>22</c:v>
                </c:pt>
                <c:pt idx="2">
                  <c:v>35</c:v>
                </c:pt>
                <c:pt idx="3">
                  <c:v>31</c:v>
                </c:pt>
                <c:pt idx="4">
                  <c:v>44</c:v>
                </c:pt>
                <c:pt idx="5">
                  <c:v>48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Product C</c:v>
                </c:pt>
              </c:strCache>
            </c:strRef>
          </c:tx>
          <c:spPr>
            <a:solidFill>
              <a:srgbClr val="8338EC"/>
            </a:solidFill>
            <a:ln w="38100" cap="flat">
              <a:solidFill>
                <a:srgbClr val="8338E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338EC"/>
              </a:solidFill>
              <a:ln w="9525" cap="flat">
                <a:solidFill>
                  <a:srgbClr val="8338E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</c:v>
                </c:pt>
                <c:pt idx="1">
                  <c:v>16</c:v>
                </c:pt>
                <c:pt idx="2">
                  <c:v>19</c:v>
                </c:pt>
                <c:pt idx="3">
                  <c:v>25</c:v>
                </c:pt>
                <c:pt idx="4">
                  <c:v>28</c:v>
                </c:pt>
                <c:pt idx="5">
                  <c:v>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Sales (Thousands)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159" y="643086"/>
            <a:ext cx="8031682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50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PowerPoint Capabilities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556159" y="2586186"/>
            <a:ext cx="803168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24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Feature. Every Chart. Every Format.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34901" y="3256062"/>
            <a:ext cx="2455515" cy="1294954"/>
          </a:xfrm>
          <a:prstGeom prst="roundRect">
            <a:avLst>
              <a:gd name="adj" fmla="val 3923"/>
            </a:avLst>
          </a:prstGeom>
          <a:solidFill>
            <a:srgbClr val="00D9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63476" y="3256062"/>
            <a:ext cx="0" cy="1294954"/>
          </a:xfrm>
          <a:prstGeom prst="line">
            <a:avLst/>
          </a:prstGeom>
          <a:noFill/>
          <a:ln w="57150">
            <a:solidFill>
              <a:srgbClr val="00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5201" y="3459212"/>
            <a:ext cx="20319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5201" y="3852863"/>
            <a:ext cx="2031906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• Line • Pie • Scatter • Area • Multi-series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44317" y="3256062"/>
            <a:ext cx="2455515" cy="1294954"/>
          </a:xfrm>
          <a:prstGeom prst="roundRect">
            <a:avLst>
              <a:gd name="adj" fmla="val 3923"/>
            </a:avLst>
          </a:prstGeom>
          <a:solidFill>
            <a:srgbClr val="00D9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372892" y="3256062"/>
            <a:ext cx="0" cy="1294954"/>
          </a:xfrm>
          <a:prstGeom prst="line">
            <a:avLst/>
          </a:prstGeom>
          <a:noFill/>
          <a:ln w="57150">
            <a:solidFill>
              <a:srgbClr val="00D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4617" y="3459212"/>
            <a:ext cx="20319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04617" y="3852863"/>
            <a:ext cx="2031906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Formatted • Merged Cells • Custom Styling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53733" y="3256062"/>
            <a:ext cx="2455515" cy="1294954"/>
          </a:xfrm>
          <a:prstGeom prst="roundRect">
            <a:avLst>
              <a:gd name="adj" fmla="val 3923"/>
            </a:avLst>
          </a:prstGeom>
          <a:solidFill>
            <a:srgbClr val="00D9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82308" y="3256062"/>
            <a:ext cx="0" cy="1294954"/>
          </a:xfrm>
          <a:prstGeom prst="line">
            <a:avLst/>
          </a:prstGeom>
          <a:noFill/>
          <a:ln w="57150">
            <a:solidFill>
              <a:srgbClr val="00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4033" y="3459212"/>
            <a:ext cx="20319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314033" y="3852863"/>
            <a:ext cx="2031906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 • Images • Gradients • Shadows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07950"/>
            <a:ext cx="816102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Types Showcase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346150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chart variations with custom styling and data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71500" y="1809601"/>
          <a:ext cx="3873550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98950" y="1809601"/>
          <a:ext cx="3873550" cy="3174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&amp; Scatter Charts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282601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series and correlation analysis with smooth curves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71500" y="1746052"/>
          <a:ext cx="8001000" cy="3301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6159" y="507950"/>
            <a:ext cx="8031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38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 &amp; Visual Elements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56159" y="1384250"/>
            <a:ext cx="803168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1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Rectangles, circles, borders, shadows, and custom styling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53976" y="2016026"/>
            <a:ext cx="1269950" cy="888950"/>
          </a:xfrm>
          <a:prstGeom prst="roundRect">
            <a:avLst>
              <a:gd name="adj" fmla="val 11429"/>
            </a:avLst>
          </a:prstGeom>
          <a:solidFill>
            <a:srgbClr val="FF006E"/>
          </a:solidFill>
          <a:ln/>
          <a:effectLst>
            <a:outerShdw sx="100000" sy="100000" kx="0" ky="0" algn="bl" rotWithShape="0" blurRad="142875" dist="53882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1276" y="3057376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43076" y="2028676"/>
            <a:ext cx="1015901" cy="1015901"/>
          </a:xfrm>
          <a:prstGeom prst="roundRect">
            <a:avLst>
              <a:gd name="adj" fmla="val 90009"/>
            </a:avLst>
          </a:prstGeom>
          <a:solidFill>
            <a:srgbClr val="00D9FF"/>
          </a:solidFill>
          <a:ln/>
          <a:effectLst>
            <a:outerShdw sx="100000" sy="100000" kx="0" ky="0" algn="bl" rotWithShape="0" blurRad="142875" dist="53882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32917" y="3044577"/>
            <a:ext cx="10362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78127" y="2016026"/>
            <a:ext cx="1269950" cy="888950"/>
          </a:xfrm>
          <a:prstGeom prst="roundRect">
            <a:avLst>
              <a:gd name="adj" fmla="val 50003"/>
            </a:avLst>
          </a:prstGeom>
          <a:solidFill>
            <a:srgbClr val="8338EC"/>
          </a:solidFill>
          <a:ln/>
          <a:effectLst>
            <a:outerShdw sx="100000" sy="100000" kx="0" ky="0" algn="bl" rotWithShape="0" blurRad="142875" dist="53882" dir="2700000">
              <a:srgbClr val="0000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5427" y="3057376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67227" y="1939826"/>
            <a:ext cx="1422350" cy="1041350"/>
          </a:xfrm>
          <a:prstGeom prst="roundRect">
            <a:avLst>
              <a:gd name="adj" fmla="val 9757"/>
            </a:avLst>
          </a:prstGeom>
          <a:noFill/>
          <a:ln w="76200">
            <a:solidFill>
              <a:srgbClr val="FB560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3004" y="3133576"/>
            <a:ext cx="145079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DF2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Bordered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44401"/>
            <a:ext cx="816102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Table Formatting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71500" y="1244501"/>
            <a:ext cx="81610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800"/>
              </a:spcAft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headers, merged cells, alternating rows, and multi-column layouts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645920"/>
          <a:ext cx="8001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188720"/>
                <a:gridCol w="1188720"/>
                <a:gridCol w="1188720"/>
                <a:gridCol w="1417320"/>
              </a:tblGrid>
              <a:tr h="411480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DF2F4"/>
                          </a:solidFill>
                        </a:rPr>
                        <a:t>Advanced Table Features Demo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Q2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Q3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Q4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1A2E"/>
                          </a:solidFill>
                        </a:rPr>
                        <a:t>Total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9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$125M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$142M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$158M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$176M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006E"/>
                          </a:solidFill>
                        </a:rPr>
                        <a:t>$601M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Expenses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$87M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$92M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$98M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$104M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$381M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Profit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$38M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$50M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$60M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$72M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$220M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Growth 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22%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18%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</a:rPr>
                        <a:t>20%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CEF"/>
                    </a:solidFill>
                  </a:tcPr>
                </a:tc>
              </a:tr>
              <a:tr h="320040">
                <a:tc gridSpan="6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EDF2F4"/>
                          </a:solidFill>
                        </a:rPr>
                        <a:t>Summary: Strong performance across all quarters with consistent growth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Complete PowerPoint Capabilities Showcase</dc:title>
  <dc:subject>PptxGenJS Presentation</dc:subject>
  <dc:creator>File Factory System</dc:creator>
  <cp:lastModifiedBy>File Factory System</cp:lastModifiedBy>
  <cp:revision>1</cp:revision>
  <dcterms:created xsi:type="dcterms:W3CDTF">2026-01-03T04:46:47Z</dcterms:created>
  <dcterms:modified xsi:type="dcterms:W3CDTF">2026-01-03T04:46:47Z</dcterms:modified>
</cp:coreProperties>
</file>